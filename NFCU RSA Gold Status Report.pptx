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y="5143500" cx="9144000"/>
  <p:notesSz cx="6858000" cy="9144000"/>
  <p:embeddedFontLst>
    <p:embeddedFont>
      <p:font typeface="DM Sans Medium"/>
      <p:regular r:id="rId75"/>
      <p:bold r:id="rId76"/>
      <p:italic r:id="rId77"/>
      <p:boldItalic r:id="rId78"/>
    </p:embeddedFont>
    <p:embeddedFont>
      <p:font typeface="Roboto"/>
      <p:regular r:id="rId79"/>
      <p:bold r:id="rId80"/>
      <p:italic r:id="rId81"/>
      <p:boldItalic r:id="rId82"/>
    </p:embeddedFont>
    <p:embeddedFont>
      <p:font typeface="Merriweather"/>
      <p:regular r:id="rId83"/>
      <p:bold r:id="rId84"/>
      <p:italic r:id="rId85"/>
      <p:boldItalic r:id="rId86"/>
    </p:embeddedFont>
    <p:embeddedFont>
      <p:font typeface="DM Sans"/>
      <p:regular r:id="rId87"/>
      <p:bold r:id="rId88"/>
      <p:italic r:id="rId89"/>
      <p:boldItalic r:id="rId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">
          <p15:clr>
            <a:srgbClr val="747775"/>
          </p15:clr>
        </p15:guide>
        <p15:guide id="2" orient="horz" pos="229">
          <p15:clr>
            <a:srgbClr val="747775"/>
          </p15:clr>
        </p15:guide>
        <p15:guide id="3" orient="horz" pos="325">
          <p15:clr>
            <a:srgbClr val="747775"/>
          </p15:clr>
        </p15:guide>
        <p15:guide id="4" orient="horz" pos="3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5C54B9-6944-4053-99CF-02348D390EB3}">
  <a:tblStyle styleId="{095C54B9-6944-4053-99CF-02348D390EB3}" styleName="Table_0">
    <a:wholeTbl>
      <a:tcTxStyle b="off" i="off">
        <a:font>
          <a:latin typeface="Calibri"/>
          <a:ea typeface="Calibri"/>
          <a:cs typeface="Calibri"/>
        </a:font>
        <a:srgbClr val="1B3038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7"/>
          </a:solidFill>
        </a:fill>
      </a:tcStyle>
    </a:wholeTbl>
    <a:band1H>
      <a:tcTxStyle b="off" i="off"/>
      <a:tcStyle>
        <a:fill>
          <a:solidFill>
            <a:srgbClr val="CBCCCC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CCCC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B3038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B3038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B3038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B3038"/>
          </a:solidFill>
        </a:fill>
      </a:tcStyle>
    </a:firstRow>
    <a:neCell>
      <a:tcTxStyle b="off" i="off"/>
    </a:neCell>
    <a:nwCell>
      <a:tcTxStyle b="off" i="off"/>
    </a:nwCell>
  </a:tblStyle>
  <a:tblStyle styleId="{A8400BF7-2E52-4B70-A12C-A43C26B6C34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" orient="horz"/>
        <p:guide pos="229" orient="horz"/>
        <p:guide pos="325" orient="horz"/>
        <p:guide pos="3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Merriweather-bold.fntdata"/><Relationship Id="rId83" Type="http://schemas.openxmlformats.org/officeDocument/2006/relationships/font" Target="fonts/Merriweather-regular.fntdata"/><Relationship Id="rId42" Type="http://schemas.openxmlformats.org/officeDocument/2006/relationships/slide" Target="slides/slide35.xml"/><Relationship Id="rId86" Type="http://schemas.openxmlformats.org/officeDocument/2006/relationships/font" Target="fonts/Merriweather-boldItalic.fntdata"/><Relationship Id="rId41" Type="http://schemas.openxmlformats.org/officeDocument/2006/relationships/slide" Target="slides/slide34.xml"/><Relationship Id="rId85" Type="http://schemas.openxmlformats.org/officeDocument/2006/relationships/font" Target="fonts/Merriweather-italic.fntdata"/><Relationship Id="rId44" Type="http://schemas.openxmlformats.org/officeDocument/2006/relationships/slide" Target="slides/slide37.xml"/><Relationship Id="rId88" Type="http://schemas.openxmlformats.org/officeDocument/2006/relationships/font" Target="fonts/DMSans-bold.fntdata"/><Relationship Id="rId43" Type="http://schemas.openxmlformats.org/officeDocument/2006/relationships/slide" Target="slides/slide36.xml"/><Relationship Id="rId87" Type="http://schemas.openxmlformats.org/officeDocument/2006/relationships/font" Target="fonts/DMSans-regular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9" Type="http://schemas.openxmlformats.org/officeDocument/2006/relationships/font" Target="fonts/DMSans-italic.fntdata"/><Relationship Id="rId80" Type="http://schemas.openxmlformats.org/officeDocument/2006/relationships/font" Target="fonts/Roboto-bold.fntdata"/><Relationship Id="rId82" Type="http://schemas.openxmlformats.org/officeDocument/2006/relationships/font" Target="fonts/Roboto-boldItalic.fntdata"/><Relationship Id="rId81" Type="http://schemas.openxmlformats.org/officeDocument/2006/relationships/font" Target="fonts/Robot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font" Target="fonts/DMSansMedium-regular.fntdata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font" Target="fonts/DMSansMedium-italic.fntdata"/><Relationship Id="rId32" Type="http://schemas.openxmlformats.org/officeDocument/2006/relationships/slide" Target="slides/slide25.xml"/><Relationship Id="rId76" Type="http://schemas.openxmlformats.org/officeDocument/2006/relationships/font" Target="fonts/DMSansMedium-bold.fntdata"/><Relationship Id="rId35" Type="http://schemas.openxmlformats.org/officeDocument/2006/relationships/slide" Target="slides/slide28.xml"/><Relationship Id="rId79" Type="http://schemas.openxmlformats.org/officeDocument/2006/relationships/font" Target="fonts/Roboto-regular.fntdata"/><Relationship Id="rId34" Type="http://schemas.openxmlformats.org/officeDocument/2006/relationships/slide" Target="slides/slide27.xml"/><Relationship Id="rId78" Type="http://schemas.openxmlformats.org/officeDocument/2006/relationships/font" Target="fonts/DMSansMedium-boldItalic.fntdata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90" Type="http://schemas.openxmlformats.org/officeDocument/2006/relationships/font" Target="fonts/DMSans-boldItalic.fntdata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9977ff0da4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29977ff0da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6" name="Google Shape;136;g29977ff0da4_0_1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c1be98805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c1be9880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c1be98805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837030ae9_0_13:notes"/>
          <p:cNvSpPr/>
          <p:nvPr>
            <p:ph idx="2" type="sldImg"/>
          </p:nvPr>
        </p:nvSpPr>
        <p:spPr>
          <a:xfrm>
            <a:off x="398328" y="685487"/>
            <a:ext cx="6061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5837030ae9_0_13:notes"/>
          <p:cNvSpPr txBox="1"/>
          <p:nvPr>
            <p:ph idx="1" type="body"/>
          </p:nvPr>
        </p:nvSpPr>
        <p:spPr>
          <a:xfrm>
            <a:off x="399118" y="4343399"/>
            <a:ext cx="6059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66f89b9c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66f89b9c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5c954d1e1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5c954d1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5c954d1e1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6f619722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56f6197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56f619722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4a0a9d2a0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4a0a9d2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4a0a9d2a0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3256c3935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3256c39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3256c3935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fe174b0e6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fe174b0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fe174b0e6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e4bb014cf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e4bb014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e4bb014cf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e8a03f7cd_0_39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e8a03f7c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e8a03f7cd_0_39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e8a03f7cd_0_52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e8a03f7c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e8a03f7cd_0_52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e8a03f7cd_0_65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e8a03f7c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ee8a03f7cd_0_65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e8a03f7cd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ee8a03f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ee8a03f7cd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e8a03f7cd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e8a03f7c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e8a03f7cd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e8a03f7cd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e8a03f7c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ee8a03f7cd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5e9ab1858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e5e9ab18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e5e9ab1858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5e9ab1858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5e9ab18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5e9ab1858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5e9ab1858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e5e9ab185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5e9ab1858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539a41c17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e539a41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e539a41c17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539a41c17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e539a41c1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e539a41c17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539a41c17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539a41c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e539a41c17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2f5ba83d2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e2f5ba83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e2f5ba83d2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2f5ba83d2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e2f5ba83d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e2f5ba83d2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2f5ba83d2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e2f5ba83d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e2f5ba83d2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0c48f2c8e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e0c48f2c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e0c48f2c8e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0c48f2c8e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0c48f2c8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e0c48f2c8e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0c48f2c8e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e0c48f2c8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e0c48f2c8e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6e2957702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6e29577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e6e2957702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e6e2957702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e6e295770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e6e2957702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6e2957702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e6e295770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e6e2957702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9b6cb96ce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9b6cb96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d9b6cb96ce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9b6cb96ce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d9b6cb96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d9b6cb96ce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9b6cb96ce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d9b6cb96c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d9b6cb96ce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d9ab53ed47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d9ab53ed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d9ab53ed47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9ab53ed47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d9ab53ed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d9ab53ed47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d9ab53ed47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d9ab53ed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d9ab53ed47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72fb14e62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d72fb14e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d72fb14e62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d72fb14e62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d72fb14e6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d72fb14e62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d72fb14e62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d72fb14e6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3d72fb14e62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5c442baff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d5c442ba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d5c442baff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d5c442baff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d5c442baf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g3d5c442baff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d5c442baff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d5c442baf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d5c442baff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d4c198752f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d4c19875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3d4c198752f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d4c198752f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d4c198752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d4c198752f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4c198752f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d4c198752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d4c198752f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da62654966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da626549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g3da62654966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da62654966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da6265496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da62654966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da62654966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da6265496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g3da62654966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d9f5452fe7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d9f5452f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3d9f5452fe7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d9f5452fe7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d9f5452fe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g3d9f5452fe7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d9f5452fe7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d9f5452fe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3d9f5452fe7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cf9bf30f45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cf9bf30f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g3cf9bf30f45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cf9bf30f45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cf9bf30f4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g3cf9bf30f45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cf9bf30f45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cf9bf30f4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g3cf9bf30f45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c4811c375d_3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c4811c375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3c4811c375d_3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c4811c375d_3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c4811c375d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g3c4811c375d_3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c4811c375d_3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c4811c375d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c4811c375d_3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c47491a258_1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c47491a25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g3c47491a258_1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c47491a258_1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c47491a258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g3c47491a258_1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c47491a258_1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c47491a258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g3c47491a258_1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c9a17793f2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c9a17793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c9a17793f2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c9a17793f2_0_13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c9a17793f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c9a17793f2_0_1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c9a17793f2_0_26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c9a17793f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g3c9a17793f2_0_26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be9fae52fa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3be9fae52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g3be9fae52fa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c66f89b9c3_0_0:notes"/>
          <p:cNvSpPr/>
          <p:nvPr>
            <p:ph idx="2" type="sldImg"/>
          </p:nvPr>
        </p:nvSpPr>
        <p:spPr>
          <a:xfrm>
            <a:off x="422413" y="686193"/>
            <a:ext cx="60132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c66f89b9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g3c66f89b9c3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bd50a685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bd50a685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7" name="Google Shape;67;p1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Title Slide A - Light">
  <p:cSld name="TITLE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ctrTitle"/>
          </p:nvPr>
        </p:nvSpPr>
        <p:spPr>
          <a:xfrm>
            <a:off x="571493" y="890231"/>
            <a:ext cx="40005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subTitle"/>
          </p:nvPr>
        </p:nvSpPr>
        <p:spPr>
          <a:xfrm>
            <a:off x="571500" y="2876550"/>
            <a:ext cx="46287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08" name="Google Shape;10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9" y="457199"/>
            <a:ext cx="1918695" cy="30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25"/>
          <p:cNvCxnSpPr/>
          <p:nvPr/>
        </p:nvCxnSpPr>
        <p:spPr>
          <a:xfrm>
            <a:off x="571500" y="4212950"/>
            <a:ext cx="4203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25"/>
          <p:cNvSpPr txBox="1"/>
          <p:nvPr>
            <p:ph idx="2" type="subTitle"/>
          </p:nvPr>
        </p:nvSpPr>
        <p:spPr>
          <a:xfrm>
            <a:off x="571500" y="4317000"/>
            <a:ext cx="39477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2" type="sldNum"/>
          </p:nvPr>
        </p:nvSpPr>
        <p:spPr>
          <a:xfrm>
            <a:off x="8325335" y="4854975"/>
            <a:ext cx="243300" cy="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695" y="456094"/>
            <a:ext cx="4238246" cy="4231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254760" y="206375"/>
            <a:ext cx="8560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Title Slide A - Light 1">
  <p:cSld name="TITLE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ctrTitle"/>
          </p:nvPr>
        </p:nvSpPr>
        <p:spPr>
          <a:xfrm>
            <a:off x="571492" y="890231"/>
            <a:ext cx="40005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1" type="subTitle"/>
          </p:nvPr>
        </p:nvSpPr>
        <p:spPr>
          <a:xfrm>
            <a:off x="571500" y="2876550"/>
            <a:ext cx="46287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19" name="Google Shape;11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9" y="457199"/>
            <a:ext cx="1918695" cy="30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7"/>
          <p:cNvCxnSpPr/>
          <p:nvPr/>
        </p:nvCxnSpPr>
        <p:spPr>
          <a:xfrm>
            <a:off x="571500" y="4212950"/>
            <a:ext cx="4203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7"/>
          <p:cNvSpPr txBox="1"/>
          <p:nvPr>
            <p:ph idx="2" type="subTitle"/>
          </p:nvPr>
        </p:nvSpPr>
        <p:spPr>
          <a:xfrm>
            <a:off x="571500" y="4317000"/>
            <a:ext cx="394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2pPr>
            <a:lvl3pPr lvl="2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2" type="sldNum"/>
          </p:nvPr>
        </p:nvSpPr>
        <p:spPr>
          <a:xfrm>
            <a:off x="8325335" y="4854975"/>
            <a:ext cx="243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4695" y="456094"/>
            <a:ext cx="4238246" cy="4231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Content A - Basic">
  <p:cSld name="OBJECT_1">
    <p:bg>
      <p:bgPr>
        <a:noFill/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type="title"/>
          </p:nvPr>
        </p:nvSpPr>
        <p:spPr>
          <a:xfrm>
            <a:off x="562074" y="401698"/>
            <a:ext cx="7996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 Medium"/>
              <a:buNone/>
              <a:defRPr i="0" sz="30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6" name="Google Shape;126;p28"/>
          <p:cNvSpPr txBox="1"/>
          <p:nvPr>
            <p:ph idx="1" type="subTitle"/>
          </p:nvPr>
        </p:nvSpPr>
        <p:spPr>
          <a:xfrm>
            <a:off x="573750" y="881027"/>
            <a:ext cx="79965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2" type="body"/>
          </p:nvPr>
        </p:nvSpPr>
        <p:spPr>
          <a:xfrm>
            <a:off x="571500" y="1491625"/>
            <a:ext cx="7996500" cy="3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M Sans"/>
              <a:buChar char="•"/>
              <a:defRPr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23850" lvl="1" marL="914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DM Sans"/>
              <a:buChar char="•"/>
              <a:defRPr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Content A - Basic 12">
  <p:cSld name="OBJECT_1_14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>
            <p:ph type="title"/>
          </p:nvPr>
        </p:nvSpPr>
        <p:spPr>
          <a:xfrm>
            <a:off x="562074" y="401698"/>
            <a:ext cx="7996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 Medium"/>
              <a:buNone/>
              <a:defRPr i="0" sz="30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0" name="Google Shape;130;p29"/>
          <p:cNvSpPr txBox="1"/>
          <p:nvPr>
            <p:ph idx="1" type="subTitle"/>
          </p:nvPr>
        </p:nvSpPr>
        <p:spPr>
          <a:xfrm>
            <a:off x="573750" y="881027"/>
            <a:ext cx="79965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2" type="body"/>
          </p:nvPr>
        </p:nvSpPr>
        <p:spPr>
          <a:xfrm>
            <a:off x="571500" y="1491625"/>
            <a:ext cx="7996500" cy="3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M Sans"/>
              <a:buChar char="•"/>
              <a:defRPr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23850" lvl="1" marL="914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DM Sans"/>
              <a:buChar char="•"/>
              <a:defRPr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2" name="Google Shape;132;p29"/>
          <p:cNvSpPr txBox="1"/>
          <p:nvPr>
            <p:ph idx="12" type="sldNum"/>
          </p:nvPr>
        </p:nvSpPr>
        <p:spPr>
          <a:xfrm>
            <a:off x="8325335" y="4854975"/>
            <a:ext cx="243300" cy="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earn.microsoft.com/en-us/azure/databricks/genie/budgets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earn.microsoft.com/en-us/azure/databricks/genie/budgets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learn.microsoft.com/en-us/azure/databricks/genie/budgets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ctrTitle"/>
          </p:nvPr>
        </p:nvSpPr>
        <p:spPr>
          <a:xfrm>
            <a:off x="571500" y="1195025"/>
            <a:ext cx="4481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Barlow"/>
              <a:buNone/>
            </a:pPr>
            <a:r>
              <a:rPr b="1" lang="en" sz="4000">
                <a:latin typeface="DM Sans"/>
                <a:ea typeface="DM Sans"/>
                <a:cs typeface="DM Sans"/>
                <a:sym typeface="DM Sans"/>
              </a:rPr>
              <a:t>Navy Federal Credit Union</a:t>
            </a:r>
            <a:endParaRPr b="1" sz="4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Barlow"/>
              <a:buNone/>
            </a:pPr>
            <a:r>
              <a:rPr b="1" lang="en" sz="4000">
                <a:latin typeface="DM Sans"/>
                <a:ea typeface="DM Sans"/>
                <a:cs typeface="DM Sans"/>
                <a:sym typeface="DM Sans"/>
              </a:rPr>
              <a:t>RSA Subscription</a:t>
            </a:r>
            <a:endParaRPr b="1" sz="4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30"/>
          <p:cNvSpPr txBox="1"/>
          <p:nvPr>
            <p:ph idx="2" type="subTitle"/>
          </p:nvPr>
        </p:nvSpPr>
        <p:spPr>
          <a:xfrm>
            <a:off x="484600" y="4169300"/>
            <a:ext cx="61587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>
                <a:solidFill>
                  <a:srgbClr val="FF6952"/>
                </a:solidFill>
                <a:latin typeface="DM Sans"/>
                <a:ea typeface="DM Sans"/>
                <a:cs typeface="DM Sans"/>
                <a:sym typeface="DM Sans"/>
              </a:rPr>
              <a:t>Resident Solutions Architects: Kashif Inamdar and Satish Muralikrishnan </a:t>
            </a:r>
            <a:endParaRPr sz="1400">
              <a:solidFill>
                <a:srgbClr val="FF69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>
                <a:solidFill>
                  <a:srgbClr val="FF6952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" sz="1400">
                <a:solidFill>
                  <a:srgbClr val="FF6952"/>
                </a:solidFill>
                <a:latin typeface="DM Sans"/>
                <a:ea typeface="DM Sans"/>
                <a:cs typeface="DM Sans"/>
                <a:sym typeface="DM Sans"/>
              </a:rPr>
              <a:t>enior </a:t>
            </a:r>
            <a:r>
              <a:rPr lang="en" sz="1400">
                <a:solidFill>
                  <a:srgbClr val="FF6952"/>
                </a:solidFill>
                <a:latin typeface="DM Sans"/>
                <a:ea typeface="DM Sans"/>
                <a:cs typeface="DM Sans"/>
                <a:sym typeface="DM Sans"/>
              </a:rPr>
              <a:t>Project Manager: Diane DeMartino</a:t>
            </a:r>
            <a:endParaRPr sz="1400">
              <a:solidFill>
                <a:srgbClr val="FF69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00">
              <a:solidFill>
                <a:srgbClr val="FF69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30"/>
          <p:cNvSpPr txBox="1"/>
          <p:nvPr>
            <p:ph idx="1" type="subTitle"/>
          </p:nvPr>
        </p:nvSpPr>
        <p:spPr>
          <a:xfrm>
            <a:off x="571500" y="3257550"/>
            <a:ext cx="4628700" cy="9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en" sz="2000">
                <a:latin typeface="DM Sans"/>
                <a:ea typeface="DM Sans"/>
                <a:cs typeface="DM Sans"/>
                <a:sym typeface="DM Sans"/>
              </a:rPr>
              <a:t>Weekly Status Report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30"/>
          <p:cNvSpPr txBox="1"/>
          <p:nvPr>
            <p:ph idx="12" type="sldNum"/>
          </p:nvPr>
        </p:nvSpPr>
        <p:spPr>
          <a:xfrm>
            <a:off x="8325335" y="4854975"/>
            <a:ext cx="243300" cy="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July 27,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148" name="Google Shape;148;p31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Google Shape;149;p31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648300"/>
              </a:tblGrid>
              <a:tr h="25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0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080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cost estimation &amp; access management (Raghu/Tom)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DR: User Sync Issue testing  (Tanvir Ahmed)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Identity transition for CI/CD from SPN (Pradeep/Sridhar)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Databricks BI refresh task through lakeflow (Parimal Batra)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with DEPS team to identify the common failures and suggest best practices (Prashant C Shetty)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FGAC on Dedicated Compute (Nayan)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Get the queries for token count per user per source for Genie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" name="Google Shape;150;p31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" name="Google Shape;151;p31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Independence Day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(07/03)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08/03 - 08/07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152" name="Google Shape;152;p31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153" name="Google Shape;153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5" name="Google Shape;155;p31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type="title"/>
          </p:nvPr>
        </p:nvSpPr>
        <p:spPr>
          <a:xfrm>
            <a:off x="347389" y="238385"/>
            <a:ext cx="7996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650" lIns="0" spcFirstLastPara="1" rIns="0" wrap="square" tIns="91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Blockers, Issues and Risks</a:t>
            </a:r>
            <a:endParaRPr/>
          </a:p>
        </p:txBody>
      </p:sp>
      <p:graphicFrame>
        <p:nvGraphicFramePr>
          <p:cNvPr id="161" name="Google Shape;161;p32"/>
          <p:cNvGraphicFramePr/>
          <p:nvPr/>
        </p:nvGraphicFramePr>
        <p:xfrm>
          <a:off x="347397" y="100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{A8400BF7-2E52-4B70-A12C-A43C26B6C346}</a:tableStyleId>
              </a:tblPr>
              <a:tblGrid>
                <a:gridCol w="664075"/>
                <a:gridCol w="3378200"/>
                <a:gridCol w="717650"/>
                <a:gridCol w="609825"/>
                <a:gridCol w="766700"/>
                <a:gridCol w="679650"/>
                <a:gridCol w="163297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Category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Name, Description &amp; </a:t>
                      </a: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Mitigation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 Date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Due Date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Owner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Notes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600" marB="68600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600" marB="68600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8600" marB="68600" marR="68575" marL="6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2" name="Google Shape;162;p32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163" name="Google Shape;16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5" name="Google Shape;165;p32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ctrTitle"/>
          </p:nvPr>
        </p:nvSpPr>
        <p:spPr>
          <a:xfrm>
            <a:off x="571493" y="890231"/>
            <a:ext cx="4000500" cy="1790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Updates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July 20,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177" name="Google Shape;177;p34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Google Shape;178;p34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648300"/>
              </a:tblGrid>
              <a:tr h="25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0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080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cost estimation &amp; access management (Raghu/Tom)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DR: User Sync Issue testing  (Tanvir Ahmed)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Identity transition for CI/CD from SPN (Pradeep/Sridhar)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Databricks BI refresh task through lakeflow (Parimal Batra)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with DEPS team to identify the common failures and suggest best practices (Prashant C Shetty)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FGAC on Dedicated Compute (Nayan)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Get the queries for token count per user per source for Genie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" name="Google Shape;179;p34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" name="Google Shape;180;p34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Independence Day (07/03)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08/03 - 08/07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181" name="Google Shape;181;p34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182" name="Google Shape;18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4" name="Google Shape;184;p34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July 13,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191" name="Google Shape;191;p35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" name="Google Shape;192;p35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648300"/>
              </a:tblGrid>
              <a:tr h="25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0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080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Track and control Genie spend for your entire account using </a:t>
                      </a:r>
                      <a:r>
                        <a:rPr lang="en" sz="800" u="sng">
                          <a:solidFill>
                            <a:schemeClr val="hlink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3"/>
                        </a:rPr>
                        <a:t>Unity AI Gateway</a:t>
                      </a: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(PuPr)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cost estimation &amp; access management - In Progress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DR: Working on the fix for Databricks Git folders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Identity transition for CI/CD from SPN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Databricks BI refresh task through lakeflow - Parimal Batra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with DEPS team to identify the common failures and suggest best practices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complete due trainings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Get the queries for token count per user per source for Genie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3" name="Google Shape;193;p35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4" name="Google Shape;194;p35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Independence Day (07/03)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08/03 - 08/07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195" name="Google Shape;195;p35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196" name="Google Shape;19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3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8" name="Google Shape;198;p35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July 06,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205" name="Google Shape;205;p36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" name="Google Shape;206;p36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648300"/>
              </a:tblGrid>
              <a:tr h="25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0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080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Track and control Genie spend for your entire account using </a:t>
                      </a:r>
                      <a:r>
                        <a:rPr lang="en" sz="800" u="sng">
                          <a:solidFill>
                            <a:schemeClr val="hlink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3"/>
                        </a:rPr>
                        <a:t>Unity AI Gateway</a:t>
                      </a: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(PuPr)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DR: Working on the fix for Databricks Git folders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Identity transition for CI/CD from SPN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Databricks BI refresh task through lakeflow - Parimal Batra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with DEPS team to identify the common failures and suggest best practices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Troubleshooting a job failure in production for reading excel file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complete due trainings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Get the queries for token count per user per source for Genie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" name="Google Shape;207;p36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" name="Google Shape;208;p36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Independence Day (07/03)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08/03 - 08/07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209" name="Google Shape;209;p36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210" name="Google Shape;21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2" name="Google Shape;212;p36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June 29,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219" name="Google Shape;219;p37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0" name="Google Shape;220;p37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648300"/>
              </a:tblGrid>
              <a:tr h="25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0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080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Track and control Genie spend for your entire account using </a:t>
                      </a:r>
                      <a:r>
                        <a:rPr lang="en" sz="800" u="sng">
                          <a:solidFill>
                            <a:schemeClr val="hlink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3"/>
                        </a:rPr>
                        <a:t>Unity AI Gateway</a:t>
                      </a: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(PuPr)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DR: Group permission issue resolved, working on permission issue on external locations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Identity transition for CI/CD from SPN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33 Pipelines moved to production so far. Remaining In progress.ETA: Q42026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Infosec - Information Security &amp; Awareness 2026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Identity &amp; Access Management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Get the queries for token count per user per source for Genie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1" name="Google Shape;221;p37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" name="Google Shape;222;p37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Independence Day (07/03)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08/03 - 08/07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223" name="Google Shape;223;p37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224" name="Google Shape;22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6" name="Google Shape;226;p37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June 22,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233" name="Google Shape;233;p38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Google Shape;234;p38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648300"/>
              </a:tblGrid>
              <a:tr h="25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0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080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Getting more details on the upcoming Genie Billing changes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DR: Group permission issue resolved, working on permission issue on external locations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Working with Parth on text file handling issue in CECL pipeline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Infosec - Information Security &amp; Awareness 2026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Identity &amp; Access Management - In Progress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Completed dashboard deployment to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Troubleshooting of query execution via PowerBI with 2.0 (beta) implementation method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Get the queries for token count per user per source for Genie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Google Shape;235;p38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6" name="Google Shape;236;p38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Juneteenth (6/19)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237" name="Google Shape;237;p38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238" name="Google Shape;23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0" name="Google Shape;240;p38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June 15,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247" name="Google Shape;247;p39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8" name="Google Shape;248;p39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648300"/>
              </a:tblGrid>
              <a:tr h="25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0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080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Shared the updated query to calculate cost of Genie Space with Raghu M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discussion with Self Healing Pipeline with DEPS team (Prashant C Shetty)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Connected with Parimal related to Power BI refresh use case.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Started Infosec - Information Security &amp; Awareness 2026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Completed dashboard deployment to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Troubleshooting of query execution via PowerBI with 2.0 (beta) implementation method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Get the queries for token count per user per source for Genie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9" name="Google Shape;249;p39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0" name="Google Shape;250;p39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Juneteenth (6/19)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251" name="Google Shape;251;p39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252" name="Google Shape;25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4" name="Google Shape;254;p39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June </a:t>
            </a:r>
            <a:r>
              <a:rPr lang="en" sz="2500"/>
              <a:t>8</a:t>
            </a:r>
            <a:r>
              <a:rPr lang="en" sz="2500"/>
              <a:t>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261" name="Google Shape;261;p40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2" name="Google Shape;262;p40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648300"/>
              </a:tblGrid>
              <a:tr h="25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0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080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discussion with Miracle Z. on AI use cases for Data Engineering (Travis)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Delivered DT-DE-PROD vacuum opportunity script to Raja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Query.History fix is deployed into production, data validated</a:t>
                      </a: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Had discussion about the external volume for log file access in PROD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Completed dashboard deployment to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Troubleshooting of query execution via PowerBI with 2.0 (beta) implementation method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Troubleshooting of query execution via PowerBI with 2.0 (beta) implementation method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Troubleshooting of missing data between system tables and NFCU system internals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3" name="Google Shape;263;p40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4" name="Google Shape;264;p40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Juneteenth (6/19)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265" name="Google Shape;265;p40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266" name="Google Shape;26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8" name="Google Shape;268;p40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June 08,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275" name="Google Shape;275;p41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6" name="Google Shape;276;p41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5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98400">
                <a:tc>
                  <a:txBody>
                    <a:bodyPr/>
                    <a:lstStyle/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discussion with Miracle Z. on AI use cases for Data Engineering (Travis)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Delivered DT-DE-PROD vacuum opportunity script to Raja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Query.History fix is deployed into production, data validated.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7" name="Google Shape;277;p41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278" name="Google Shape;278;p41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279" name="Google Shape;279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1" name="Google Shape;281;p41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282" name="Google Shape;282;p41"/>
          <p:cNvGraphicFramePr/>
          <p:nvPr/>
        </p:nvGraphicFramePr>
        <p:xfrm>
          <a:off x="4246513" y="27153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776850"/>
              </a:tblGrid>
              <a:tr h="23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922850">
                <a:tc>
                  <a:txBody>
                    <a:bodyPr/>
                    <a:lstStyle/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9142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June 08,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289" name="Google Shape;289;p42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0" name="Google Shape;290;p42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Fixed open issues with the dashboard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1" name="Google Shape;291;p42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292" name="Google Shape;292;p42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293" name="Google Shape;2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42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296" name="Google Shape;296;p42"/>
          <p:cNvGraphicFramePr/>
          <p:nvPr/>
        </p:nvGraphicFramePr>
        <p:xfrm>
          <a:off x="4212569" y="2305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June 1,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303" name="Google Shape;303;p43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4" name="Google Shape;304;p43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648300"/>
              </a:tblGrid>
              <a:tr h="25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10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</a:t>
                      </a: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080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Coordinating with Mamadou team to setup weekly call (Travis)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Handed over the script for testing and deployment. Awaiting response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Delivered DT-DE-PROD vacuum opportunity script to Raja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Provided the fix for query.history sync issue, awaiting deployment.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Completed dashboard deployment to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Troubleshooting of query execution via PowerBI with 2.0 (beta) implementation method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Troubleshooting of missing data between system tables and NFCU system internals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510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5" name="Google Shape;305;p43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6" name="Google Shape;306;p43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Juneteenth (6/19)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307" name="Google Shape;307;p43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308" name="Google Shape;30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0" name="Google Shape;310;p43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4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June 01,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317" name="Google Shape;317;p44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Google Shape;318;p44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5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98400">
                <a:tc>
                  <a:txBody>
                    <a:bodyPr/>
                    <a:lstStyle/>
                    <a:p>
                      <a:pPr indent="-16967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Coordinating with Mamadou team to setup weekly call (Travis)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Handed over the script for testing and deployment. Awaiting response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Delivered DT-DE-PROD vacuum opportunity script to Raja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Provided the fix for query.history sync issue, awaiting deployment.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Google Shape;319;p44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320" name="Google Shape;320;p44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321" name="Google Shape;321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3" name="Google Shape;323;p44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324" name="Google Shape;324;p44"/>
          <p:cNvGraphicFramePr/>
          <p:nvPr/>
        </p:nvGraphicFramePr>
        <p:xfrm>
          <a:off x="4246513" y="27153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776850"/>
              </a:tblGrid>
              <a:tr h="23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922850">
                <a:tc>
                  <a:txBody>
                    <a:bodyPr/>
                    <a:lstStyle/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○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8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6967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DM Sans"/>
                        <a:buChar char="●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9142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5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June 01,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331" name="Google Shape;331;p45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2" name="Google Shape;332;p45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Troubleshooting of query execution via PowerBI with 2.0 (beta) implementation method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Troubleshooting of missing data between system tables and NFCU system internals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3" name="Google Shape;333;p45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334" name="Google Shape;334;p45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335" name="Google Shape;335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7" name="Google Shape;337;p45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338" name="Google Shape;338;p45"/>
          <p:cNvGraphicFramePr/>
          <p:nvPr/>
        </p:nvGraphicFramePr>
        <p:xfrm>
          <a:off x="4212569" y="2305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2857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 the open issues on the dashboard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2857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dashboard to the users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May 29,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345" name="Google Shape;345;p46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6" name="Google Shape;346;p46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715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Provided high level Databricks AI feature overview to the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Handed over the script for testing and deployment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on DT-DE-PROD vacuum opportunity script.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on the issue with query.history table sync.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Completed dashboard deployment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7" name="Google Shape;347;p46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8" name="Google Shape;348;p46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5/26 &amp; 5/27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349" name="Google Shape;349;p46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350" name="Google Shape;350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2" name="Google Shape;352;p46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May 29,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359" name="Google Shape;359;p47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0" name="Google Shape;360;p47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5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98400">
                <a:tc>
                  <a:txBody>
                    <a:bodyPr/>
                    <a:lstStyle/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Provided high level Databricks AI feature overview to the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Handed over the script for testing and deployment.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on  on DT-DE-PROD vacuum opportunity script.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on the issue with query.history table sync.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1" name="Google Shape;361;p47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362" name="Google Shape;362;p47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363" name="Google Shape;363;p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5" name="Google Shape;365;p47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366" name="Google Shape;366;p47"/>
          <p:cNvGraphicFramePr/>
          <p:nvPr/>
        </p:nvGraphicFramePr>
        <p:xfrm>
          <a:off x="4246513" y="27153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3550">
                <a:tc>
                  <a:txBody>
                    <a:bodyPr/>
                    <a:lstStyle/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9142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8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May 29,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373" name="Google Shape;373;p48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4" name="Google Shape;374;p48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dashboard deployment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5" name="Google Shape;375;p48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376" name="Google Shape;376;p48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377" name="Google Shape;377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79" name="Google Shape;379;p48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380" name="Google Shape;380;p48"/>
          <p:cNvGraphicFramePr/>
          <p:nvPr/>
        </p:nvGraphicFramePr>
        <p:xfrm>
          <a:off x="4212569" y="2305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 the dashboard in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Interpret current measures and usage to determine right sizing.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Enable development tools.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May 18,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387" name="Google Shape;387;p49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8" name="Google Shape;388;p49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715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Provided high level Databricks AI feature overview to the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Handed over the script for testing and deployment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on DT-DE-PROD vacuum opportunity script.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on the issue with query.history table sync.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Completed dashboard deployment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9" name="Google Shape;389;p49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0" name="Google Shape;390;p49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5/26 &amp; 5/27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391" name="Google Shape;391;p49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392" name="Google Shape;392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94" name="Google Shape;394;p49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May 18,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401" name="Google Shape;401;p50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2" name="Google Shape;402;p50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5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98400">
                <a:tc>
                  <a:txBody>
                    <a:bodyPr/>
                    <a:lstStyle/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Provided high level Databricks AI feature overview to the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Handed over the script for testing and deployment.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on  on DT-DE-PROD vacuum opportunity script.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on the issue with query.history table sync.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3" name="Google Shape;403;p50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404" name="Google Shape;404;p50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405" name="Google Shape;405;p5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07" name="Google Shape;407;p50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408" name="Google Shape;408;p50"/>
          <p:cNvGraphicFramePr/>
          <p:nvPr/>
        </p:nvGraphicFramePr>
        <p:xfrm>
          <a:off x="4246513" y="27153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3550">
                <a:tc>
                  <a:txBody>
                    <a:bodyPr/>
                    <a:lstStyle/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Weekly recurring meeting with Mamadou &amp;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on the issue with query.history table sync.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9142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1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May 18,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415" name="Google Shape;415;p51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6" name="Google Shape;416;p51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dashboard deployment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7" name="Google Shape;417;p51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418" name="Google Shape;418;p51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419" name="Google Shape;419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21" name="Google Shape;421;p51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422" name="Google Shape;422;p51"/>
          <p:cNvGraphicFramePr/>
          <p:nvPr/>
        </p:nvGraphicFramePr>
        <p:xfrm>
          <a:off x="4212569" y="2305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 the dashboard in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Interpret current measures and usage to determine right sizing.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Enable development tools.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May 11,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429" name="Google Shape;429;p52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0" name="Google Shape;430;p52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715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Held AI enablement kickoff call with Mamadou &amp;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Began testing the fix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Provided the fix for DBR 16.4 with CECL framework.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Worked on DT-DE-PROD vacuum opportunity script.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Completed WIL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Completed dashboard deployment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NFCU Offsite on 5/12.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Review dashboard in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" name="Google Shape;431;p52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2" name="Google Shape;432;p52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433" name="Google Shape;433;p52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434" name="Google Shape;434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36" name="Google Shape;436;p52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3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May 11,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443" name="Google Shape;443;p53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4" name="Google Shape;444;p53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5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98400">
                <a:tc>
                  <a:txBody>
                    <a:bodyPr/>
                    <a:lstStyle/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a call with Raghu M on technical questions related to Genie.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1" marL="530352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Held AI enablement kickoff call with Mamadou &amp; 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Testing the fix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Provided the fix for DBR 16.4 with CECL framework.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Working on DT-DE-PROD vacuum opportunity script.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Completed WIL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5" name="Google Shape;445;p53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446" name="Google Shape;446;p53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447" name="Google Shape;447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" name="Google Shape;44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49" name="Google Shape;449;p53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450" name="Google Shape;450;p53"/>
          <p:cNvGraphicFramePr/>
          <p:nvPr/>
        </p:nvGraphicFramePr>
        <p:xfrm>
          <a:off x="4246513" y="27153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3550">
                <a:tc>
                  <a:txBody>
                    <a:bodyPr/>
                    <a:lstStyle/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NFCU Offsite on 5/12.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94310" lvl="1" marL="54864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94310" lvl="1" marL="54864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Support Raja on DT-DE PROD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mandatory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9142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4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May 11,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457" name="Google Shape;457;p54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8" name="Google Shape;458;p54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dashboard deployment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9" name="Google Shape;459;p54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460" name="Google Shape;460;p54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461" name="Google Shape;461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3" name="Google Shape;463;p54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464" name="Google Shape;464;p54"/>
          <p:cNvGraphicFramePr/>
          <p:nvPr/>
        </p:nvGraphicFramePr>
        <p:xfrm>
          <a:off x="4212569" y="2305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 the dashboard in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5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May 4,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471" name="Google Shape;471;p55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2" name="Google Shape;472;p55"/>
          <p:cNvGraphicFramePr/>
          <p:nvPr/>
        </p:nvGraphicFramePr>
        <p:xfrm>
          <a:off x="4215384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715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AI Enablement: Had a call with Raghu M on Technical questions related to Genie.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715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Disaster Recovery: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57150" lvl="0" marL="118872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CECL Phase 2 Migration: Looking into an issue with DBR 16.4 with CECL framework.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Completed BSA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Deployed dashboard views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Held discussion with infra team regarding deployment of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Kickoff call for AI features and use cases on 5/6.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trainings due.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dashboard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3" name="Google Shape;473;p55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4" name="Google Shape;474;p55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475" name="Google Shape;475;p55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476" name="Google Shape;476;p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8" name="Google Shape;478;p55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May 4,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485" name="Google Shape;485;p56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6" name="Google Shape;486;p56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9600">
                <a:tc>
                  <a:txBody>
                    <a:bodyPr/>
                    <a:lstStyle/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Had a call with Raghu M on Technical questions related to Genie.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Looking into an issue with DBR 16.4 with CECL framework.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Completed BSA Annual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7" name="Google Shape;487;p56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488" name="Google Shape;488;p56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489" name="Google Shape;489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1" name="Google Shape;491;p56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492" name="Google Shape;492;p56"/>
          <p:cNvGraphicFramePr/>
          <p:nvPr/>
        </p:nvGraphicFramePr>
        <p:xfrm>
          <a:off x="4212584" y="21879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3550">
                <a:tc>
                  <a:txBody>
                    <a:bodyPr/>
                    <a:lstStyle/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Kickoff call for AI features and use cases on 5/6.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to 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Training: Continue to complete trainings due.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9142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7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May 4,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499" name="Google Shape;499;p57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0" name="Google Shape;500;p57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Deployed dashboard views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Held discussion with infra team regarding deployment of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1" name="Google Shape;501;p57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502" name="Google Shape;502;p57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503" name="Google Shape;503;p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4" name="Google Shape;504;p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05" name="Google Shape;505;p57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506" name="Google Shape;506;p57"/>
          <p:cNvGraphicFramePr/>
          <p:nvPr/>
        </p:nvGraphicFramePr>
        <p:xfrm>
          <a:off x="4212569" y="2305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dashboard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8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April 27,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513" name="Google Shape;513;p58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4" name="Google Shape;514;p58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 was on PTO on 4/20-21.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Scheduled bi-weekly call with Raghu M for Genie Space discussion.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discussions about deployment of Unified Monitoring Dashboard and views to higher environment using Declarative Automation Bundles.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Kickoff call for AI use cases on 4/27.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Kickoff call for AI features.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views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Validate bundle deployment in lower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5" name="Google Shape;515;p58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6" name="Google Shape;516;p58"/>
          <p:cNvGraphicFramePr/>
          <p:nvPr/>
        </p:nvGraphicFramePr>
        <p:xfrm>
          <a:off x="259306" y="4273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517" name="Google Shape;517;p58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518" name="Google Shape;518;p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20" name="Google Shape;520;p58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27,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527" name="Google Shape;527;p59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8" name="Google Shape;528;p59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9600">
                <a:tc>
                  <a:txBody>
                    <a:bodyPr/>
                    <a:lstStyle/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Scheduled bi-weekly call with Raghu M for Genie Space discussion.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9" name="Google Shape;529;p59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530" name="Google Shape;530;p59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531" name="Google Shape;531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33" name="Google Shape;533;p59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534" name="Google Shape;534;p59"/>
          <p:cNvGraphicFramePr/>
          <p:nvPr/>
        </p:nvGraphicFramePr>
        <p:xfrm>
          <a:off x="4212584" y="21879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3550">
                <a:tc>
                  <a:txBody>
                    <a:bodyPr/>
                    <a:lstStyle/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Kickoff call for AI features and use cases on 4/27.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Kickoff call for AI features.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AI Enablement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Continue troubleshooting issue regarding group permissions.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9142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0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27,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541" name="Google Shape;541;p60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2" name="Google Shape;542;p60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discussions about deployment of Unified Monitoring Dashboard and views to higher environment using Declarative Automation Bundles.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3" name="Google Shape;543;p60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Issue: Satish needs access to system tables and the materialized views to build and validate the sysinternal version of the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544" name="Google Shape;544;p60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545" name="Google Shape;545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p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47" name="Google Shape;547;p60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548" name="Google Shape;548;p60"/>
          <p:cNvGraphicFramePr/>
          <p:nvPr/>
        </p:nvGraphicFramePr>
        <p:xfrm>
          <a:off x="4212569" y="2305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views to PROD.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Validate bundle deployment in lower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1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April 20,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555" name="Google Shape;555;p61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6" name="Google Shape;556;p61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Scheduled bi-weekly call with Raghu M for Genie Space discussion.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Troubleshooting issue with group permissions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through the deployment of Unified Monitoring Dashboard and views to higher environment using Declarative Automation Bundles.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Tested Bundle deployment to UAT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Awaiting input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regarding AI features and use cases.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KK to schedule kickoff call for the week of 4/27.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AI Enablement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views to PROD on 4/21.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Validate bundle deployment in lower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7" name="Google Shape;557;p61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8" name="Google Shape;558;p61"/>
          <p:cNvGraphicFramePr/>
          <p:nvPr/>
        </p:nvGraphicFramePr>
        <p:xfrm>
          <a:off x="259306" y="3996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4/20-21.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559" name="Google Shape;559;p61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560" name="Google Shape;560;p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62" name="Google Shape;562;p61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2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20,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569" name="Google Shape;569;p62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0" name="Google Shape;570;p62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9600">
                <a:tc>
                  <a:txBody>
                    <a:bodyPr/>
                    <a:lstStyle/>
                    <a:p>
                      <a:pPr indent="-121158" lvl="0" marL="292608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Scheduled bi-weekly call with Raghu M for Genie Space discussion.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21158" lvl="0" marL="292608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21158" lvl="0" marL="292608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Disaster Recovery: Troubleshooting issue with group permissions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1" name="Google Shape;571;p62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572" name="Google Shape;572;p62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573" name="Google Shape;573;p6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75" name="Google Shape;575;p62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576" name="Google Shape;576;p62"/>
          <p:cNvGraphicFramePr/>
          <p:nvPr/>
        </p:nvGraphicFramePr>
        <p:xfrm>
          <a:off x="4212584" y="21879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3550">
                <a:tc>
                  <a:txBody>
                    <a:bodyPr/>
                    <a:lstStyle/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Awaiting input regarding AI features and use cases.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KK to schedule kickoff call for the week of 4/27.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AI Enablement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9142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3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20,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583" name="Google Shape;583;p63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4" name="Google Shape;584;p63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through the deployment of Unified Monitoring Dashboard and views to higher environment using Declarative Automation Bundles.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Tested Bundle deployment to UAT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5" name="Google Shape;585;p63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586" name="Google Shape;586;p63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587" name="Google Shape;587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89" name="Google Shape;589;p63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590" name="Google Shape;590;p63"/>
          <p:cNvGraphicFramePr/>
          <p:nvPr/>
        </p:nvGraphicFramePr>
        <p:xfrm>
          <a:off x="4212569" y="23764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views to PROD on 4/21.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Validate bundle deployment in lower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4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April 20,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597" name="Google Shape;597;p64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8" name="Google Shape;598;p64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Scheduled bi-weekly call with Raghu M for Genie Space discussion.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on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Table Pipeline issue with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Srinivasa R Kandepi.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through the deployment of Unified Monitoring Dashboard and views to higher environment using Declarative Automation Bundles.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Tested Bundle deployment to UAT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Awaiting input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regarding AI features and use cases.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KK to schedule kickoff call for the week of 4/27.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AI Enablement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views to PROD on 4/21.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Validate bundle deployment in lower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9" name="Google Shape;599;p64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0" name="Google Shape;600;p64"/>
          <p:cNvGraphicFramePr/>
          <p:nvPr/>
        </p:nvGraphicFramePr>
        <p:xfrm>
          <a:off x="259306" y="3996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4/20-21.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601" name="Google Shape;601;p64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602" name="Google Shape;602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3" name="Google Shape;603;p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04" name="Google Shape;604;p64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5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20,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611" name="Google Shape;611;p65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2" name="Google Shape;612;p65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96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Scheduled bi-weekly call with Raghu M for Genie Space discussion.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on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Table Pipeline issue with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Srinivasa R Kandepi.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3" name="Google Shape;613;p65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614" name="Google Shape;614;p65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615" name="Google Shape;615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6" name="Google Shape;616;p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17" name="Google Shape;617;p65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618" name="Google Shape;618;p65"/>
          <p:cNvGraphicFramePr/>
          <p:nvPr/>
        </p:nvGraphicFramePr>
        <p:xfrm>
          <a:off x="4212584" y="21879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3550">
                <a:tc>
                  <a:txBody>
                    <a:bodyPr/>
                    <a:lstStyle/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Awaiting input regarding AI features and use cases.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KK to schedule kickoff call for the week of 4/27.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AI Enablement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 with Raghu M. &amp; team on Genie Space Setup.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9142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6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20,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625" name="Google Shape;625;p66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6" name="Google Shape;626;p66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through the deployment of Unified Monitoring Dashboard and views to higher environment using Declarative Automation Bundles.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Tested Bundle deployment to UAT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7" name="Google Shape;627;p66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628" name="Google Shape;628;p66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629" name="Google Shape;629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0" name="Google Shape;630;p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31" name="Google Shape;631;p66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632" name="Google Shape;632;p66"/>
          <p:cNvGraphicFramePr/>
          <p:nvPr/>
        </p:nvGraphicFramePr>
        <p:xfrm>
          <a:off x="4212569" y="23764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views to PROD on 4/21.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Validate bundle deployment in lower environment.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 Unified Monitoring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7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April 13,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639" name="Google Shape;639;p67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0" name="Google Shape;640;p67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2: Worked with Parth on code changes.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Shared documentation with Utpal on the AI features and use cases details.</a:t>
                      </a: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Worked with Nayan on the SCIM to AIM migration.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Resolved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Table Pipeline issue with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Srinivasa R Kandepi.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United Monitoring Dashboard: Deployed dashboard in UAT.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Awaiting input regarding AI features and use cases.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AI Enablement discussion.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Have missing tables populated.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the dashboard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1" name="Google Shape;641;p67"/>
          <p:cNvGraphicFramePr/>
          <p:nvPr/>
        </p:nvGraphicFramePr>
        <p:xfrm>
          <a:off x="259319" y="3131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2" name="Google Shape;642;p67"/>
          <p:cNvGraphicFramePr/>
          <p:nvPr/>
        </p:nvGraphicFramePr>
        <p:xfrm>
          <a:off x="259306" y="3996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4/20-21.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643" name="Google Shape;643;p67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644" name="Google Shape;644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5" name="Google Shape;645;p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46" name="Google Shape;646;p67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8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13,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653" name="Google Shape;653;p68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4" name="Google Shape;654;p68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566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2: Worked with Parth on code changes.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Shared documentation with Utpal on the AI features and use cases details.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Working with 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Resolved System Table Pipeline issue with Srinivasa R Kandepi.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5" name="Google Shape;655;p68"/>
          <p:cNvGraphicFramePr/>
          <p:nvPr/>
        </p:nvGraphicFramePr>
        <p:xfrm>
          <a:off x="269081" y="373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656" name="Google Shape;656;p68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657" name="Google Shape;657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59" name="Google Shape;659;p68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660" name="Google Shape;660;p68"/>
          <p:cNvGraphicFramePr/>
          <p:nvPr/>
        </p:nvGraphicFramePr>
        <p:xfrm>
          <a:off x="4212584" y="2714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3550">
                <a:tc>
                  <a:txBody>
                    <a:bodyPr/>
                    <a:lstStyle/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Awaiting input regarding AI features and use cases.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48590" lvl="1" marL="5029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AI Enablement discussion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Phase 2 Migration: Continue to provide support,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SCIM to AIM Migration: Continue to provide migration support (with Travis).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6022" lvl="0" marL="237744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9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13,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667" name="Google Shape;667;p69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8" name="Google Shape;668;p69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Warehouse Unified Monitoring Dashboard: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Deployed dashboard in UAT with: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14300" lvl="1" marL="685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Warehouse Usage Summary.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14300" lvl="1" marL="685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Warehouse Scaling Patterns.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14300" lvl="1" marL="685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Performance Summary.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14300" lvl="1" marL="685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Performance Trends.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14300" lvl="1" marL="685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Performance Drilldown.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9" name="Google Shape;669;p69"/>
          <p:cNvGraphicFramePr/>
          <p:nvPr/>
        </p:nvGraphicFramePr>
        <p:xfrm>
          <a:off x="269069" y="3156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670" name="Google Shape;670;p69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671" name="Google Shape;671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2" name="Google Shape;672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73" name="Google Shape;673;p69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674" name="Google Shape;674;p69"/>
          <p:cNvGraphicFramePr/>
          <p:nvPr/>
        </p:nvGraphicFramePr>
        <p:xfrm>
          <a:off x="4212569" y="29541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Warehouse Unified Monitoring Dashboard: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Have missing tables populated.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the dashboard to PROD.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0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April 6,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681" name="Google Shape;681;p70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2" name="Google Shape;682;p70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2: Worked with Parth on code changes.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Shared documentation with Utpal on the AI features and use cases details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United Monitoring Dashboard: Deployed MVs in NFCU UAT workspace.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AI Enablement discussion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Dashboard: 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and deploy the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3" name="Google Shape;683;p70"/>
          <p:cNvGraphicFramePr/>
          <p:nvPr/>
        </p:nvGraphicFramePr>
        <p:xfrm>
          <a:off x="259306" y="29403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4" name="Google Shape;684;p70"/>
          <p:cNvGraphicFramePr/>
          <p:nvPr/>
        </p:nvGraphicFramePr>
        <p:xfrm>
          <a:off x="259319" y="38469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685" name="Google Shape;685;p70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686" name="Google Shape;686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88" name="Google Shape;688;p70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1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6,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695" name="Google Shape;695;p71"/>
          <p:cNvGraphicFramePr/>
          <p:nvPr/>
        </p:nvGraphicFramePr>
        <p:xfrm>
          <a:off x="269069" y="1003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6" name="Google Shape;696;p71"/>
          <p:cNvGraphicFramePr/>
          <p:nvPr/>
        </p:nvGraphicFramePr>
        <p:xfrm>
          <a:off x="4212569" y="1003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566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with Parth on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code changes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Shared documentation with Utpal on the AI features and use cases details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7" name="Google Shape;697;p71"/>
          <p:cNvGraphicFramePr/>
          <p:nvPr/>
        </p:nvGraphicFramePr>
        <p:xfrm>
          <a:off x="269081" y="3509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698" name="Google Shape;698;p71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699" name="Google Shape;699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01" name="Google Shape;701;p71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702" name="Google Shape;702;p71"/>
          <p:cNvGraphicFramePr/>
          <p:nvPr/>
        </p:nvGraphicFramePr>
        <p:xfrm>
          <a:off x="4212587" y="22278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3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3507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AI Enablement discussion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 - Platform (BA PROD): 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 - CECL - Phase 2: Continue migration discussions and UC migration support.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 - EDAS UC Migration: Continue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2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April 6,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709" name="Google Shape;709;p72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0" name="Google Shape;710;p72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Warehouse Monitoring: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Deployed MVs in NFCU UAT workspace for: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1" marL="7429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Monitoring warehouse cost across all warehouse and track warehouse configuration changes.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1" marL="7429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Scaling warehouse concurrency.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1" marL="7429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SLA performance for query runtimes and queue times.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1" name="Google Shape;711;p72"/>
          <p:cNvGraphicFramePr/>
          <p:nvPr/>
        </p:nvGraphicFramePr>
        <p:xfrm>
          <a:off x="269069" y="30626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712" name="Google Shape;712;p72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713" name="Google Shape;713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4" name="Google Shape;714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15" name="Google Shape;715;p72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716" name="Google Shape;716;p72"/>
          <p:cNvGraphicFramePr/>
          <p:nvPr/>
        </p:nvGraphicFramePr>
        <p:xfrm>
          <a:off x="4212569" y="27725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Warehouse Monitoring: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and deploy the dashboard.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3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March 30,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723" name="Google Shape;723;p73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4" name="Google Shape;724;p73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44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Created project plan/backlog of tasks.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2: Worked with Parth on code changes.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Held discussions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United Monitoring Dashboard: Created MV.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ome up with a high-level, AI-feature document.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sample use cases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Table Pipeline issue resolution with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Srinivasa R Kandepi.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Dashboard: 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the MVs in NFCU workspace.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and deploy the dashboard.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5" name="Google Shape;725;p73"/>
          <p:cNvGraphicFramePr/>
          <p:nvPr/>
        </p:nvGraphicFramePr>
        <p:xfrm>
          <a:off x="259306" y="29403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6" name="Google Shape;726;p73"/>
          <p:cNvGraphicFramePr/>
          <p:nvPr/>
        </p:nvGraphicFramePr>
        <p:xfrm>
          <a:off x="259319" y="38469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Kashif: 3/30.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Diane: 4/3.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727" name="Google Shape;727;p73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728" name="Google Shape;728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9" name="Google Shape;729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30" name="Google Shape;730;p73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4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30,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737" name="Google Shape;737;p74"/>
          <p:cNvGraphicFramePr/>
          <p:nvPr/>
        </p:nvGraphicFramePr>
        <p:xfrm>
          <a:off x="269069" y="893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Hold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8" name="Google Shape;738;p74"/>
          <p:cNvGraphicFramePr/>
          <p:nvPr/>
        </p:nvGraphicFramePr>
        <p:xfrm>
          <a:off x="4212569" y="893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9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566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with Parth on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code changes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 Held discussions with NFCU.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9" name="Google Shape;739;p74"/>
          <p:cNvGraphicFramePr/>
          <p:nvPr/>
        </p:nvGraphicFramePr>
        <p:xfrm>
          <a:off x="269081" y="33992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740" name="Google Shape;740;p74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741" name="Google Shape;741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2" name="Google Shape;742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43" name="Google Shape;743;p74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744" name="Google Shape;744;p74"/>
          <p:cNvGraphicFramePr/>
          <p:nvPr/>
        </p:nvGraphicFramePr>
        <p:xfrm>
          <a:off x="4212587" y="21176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3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3507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Enablement: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ome up with high level AI feature document.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sample use cases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(BA PROD):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- Phase 2: Continue migration discussions and UC migration support.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Need to come up with high level AI feature document and sample use cases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Table Pipeline issue resolution with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Srinivasa R Kandepi.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5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30,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751" name="Google Shape;751;p75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11430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Monitoring Dashboard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Genie Usage Monitoring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143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 Long-Running Queries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2" name="Google Shape;752;p75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Warehouse Monitoring: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Created MV for: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1" marL="7429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Monitoring warehouse cost across all warehouse and track warehouse configuration changes.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1" marL="7429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Scaling warehouse concurrency.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1" marL="7429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○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SLA performance for query runtimes and queue times.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3" name="Google Shape;753;p75"/>
          <p:cNvGraphicFramePr/>
          <p:nvPr/>
        </p:nvGraphicFramePr>
        <p:xfrm>
          <a:off x="269069" y="30626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754" name="Google Shape;754;p75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755" name="Google Shape;755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6" name="Google Shape;756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57" name="Google Shape;757;p75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758" name="Google Shape;758;p75"/>
          <p:cNvGraphicFramePr/>
          <p:nvPr/>
        </p:nvGraphicFramePr>
        <p:xfrm>
          <a:off x="4212569" y="27725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Warehouse Monitoring: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 the MVs in NFCU workspace.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and deploy the dashboard.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6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March 23,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765" name="Google Shape;765;p76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6" name="Google Shape;766;p76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1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Discussed about System Table Pipeline issue with Srinivasa.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2: Worked with Parth on code changes.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on the migration of Synapse SQL to DBSQL using Lakebridge.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Attempted to add catalog names to SQL using Lakebridge switch with LLM prompts.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Extracted the Synapse SQL from M-Code and grouped it by datasetId.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project plan/backlog of tasks.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on CECL Pipeline Migration for Phase 2.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Table Pipeline issue resolution with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Srinivasa R Kandepi.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Implementation: Continue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discussions and work on action items.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 Continue UC planning for DSBUS workspaces.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migration using Lakebridge and fixing the issues with appending the catalog name to the converted DBSQL.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 the converted DBSQL and validate the results against SynapseSQL.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Migrate SQLs of multiple datasetsIds.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7" name="Google Shape;767;p76"/>
          <p:cNvGraphicFramePr/>
          <p:nvPr/>
        </p:nvGraphicFramePr>
        <p:xfrm>
          <a:off x="259319" y="34188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8" name="Google Shape;768;p76"/>
          <p:cNvGraphicFramePr/>
          <p:nvPr/>
        </p:nvGraphicFramePr>
        <p:xfrm>
          <a:off x="259306" y="4334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769" name="Google Shape;769;p76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770" name="Google Shape;770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1" name="Google Shape;771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72" name="Google Shape;772;p76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7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23,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779" name="Google Shape;779;p77"/>
          <p:cNvGraphicFramePr/>
          <p:nvPr/>
        </p:nvGraphicFramePr>
        <p:xfrm>
          <a:off x="269069" y="893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0" name="Google Shape;780;p77"/>
          <p:cNvGraphicFramePr/>
          <p:nvPr/>
        </p:nvGraphicFramePr>
        <p:xfrm>
          <a:off x="4212569" y="893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2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895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Discussed about System Table Pipeline issue with Srinivasa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with Parth on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code changes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Discussed System Table Pipeline issue with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Srinivasa R Kandepi.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1" name="Google Shape;781;p77"/>
          <p:cNvGraphicFramePr/>
          <p:nvPr/>
        </p:nvGraphicFramePr>
        <p:xfrm>
          <a:off x="269081" y="33992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782" name="Google Shape;782;p77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783" name="Google Shape;783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4" name="Google Shape;784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85" name="Google Shape;785;p77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786" name="Google Shape;786;p77"/>
          <p:cNvGraphicFramePr/>
          <p:nvPr/>
        </p:nvGraphicFramePr>
        <p:xfrm>
          <a:off x="4212587" y="25630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3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3507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Hold discussions to understand scope of this milestone.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Determine AI data readiness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 Agent and UC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(BA PROD):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- Phase 2: Continue migration discussions and UC migration support.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Table Pipeline issue resolution with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Srinivasa R Kandepi.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8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23,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793" name="Google Shape;793;p78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4" name="Google Shape;794;p78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on the migration of Synapse SQL to DBSQL using Lakebridge.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Attempted to add catalog names to SQL using Lakebridge switch with LLM prompts.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Extracted the Synapse SQL from M-Code and grouped it by datasetId.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5" name="Google Shape;795;p78"/>
          <p:cNvGraphicFramePr/>
          <p:nvPr/>
        </p:nvGraphicFramePr>
        <p:xfrm>
          <a:off x="269069" y="30626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796" name="Google Shape;796;p78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797" name="Google Shape;797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8" name="Google Shape;798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99" name="Google Shape;799;p78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800" name="Google Shape;800;p78"/>
          <p:cNvGraphicFramePr/>
          <p:nvPr/>
        </p:nvGraphicFramePr>
        <p:xfrm>
          <a:off x="4212569" y="30626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migration using Lakebridge and fixing the issues with appending the catalog name to the converted DBSQL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 the converted DBSQL and validate the results against SynapseSQL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Migrate SQLs of multiple datasetsIds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9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March 16,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807" name="Google Shape;807;p79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8" name="Google Shape;808;p79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1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Catalog: Provided guidelines.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with Tanvir on one of DR Issue.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with Parth on CECL pipeline Migration.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Implementation: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discussion with Kuldip/Team.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installation of Lakebridge Analyzer and Transpiler.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Lakebridge Switch installation to convert Synapse SQL to DB SQL.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Attempted to convert Synapse SQL to DB SQL using Lakebridge Transpiler.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orking with Dipak for column level lineage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Implementation: Continue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discussions and work on action items.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 Continue UC planning for DSBUS workspaces.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Attempt more SQL conversions using Lakebridge Transpiler.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Lakebridge Switch to convert Synapse SQL to DB SQL.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Extract Synapse SQL from M code.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9" name="Google Shape;809;p79"/>
          <p:cNvGraphicFramePr/>
          <p:nvPr/>
        </p:nvGraphicFramePr>
        <p:xfrm>
          <a:off x="259319" y="34188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0" name="Google Shape;810;p79"/>
          <p:cNvGraphicFramePr/>
          <p:nvPr/>
        </p:nvGraphicFramePr>
        <p:xfrm>
          <a:off x="259306" y="4334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811" name="Google Shape;811;p79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812" name="Google Shape;812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3" name="Google Shape;813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4" name="Google Shape;814;p79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0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16,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821" name="Google Shape;821;p80"/>
          <p:cNvGraphicFramePr/>
          <p:nvPr/>
        </p:nvGraphicFramePr>
        <p:xfrm>
          <a:off x="269069" y="893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Closed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2" name="Google Shape;822;p80"/>
          <p:cNvGraphicFramePr/>
          <p:nvPr/>
        </p:nvGraphicFramePr>
        <p:xfrm>
          <a:off x="4212569" y="893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2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895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for Unity Catalog: Provided guidelines.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with Tanvir on one of DR Issue.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- Phase 2: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with Parth on CECL pipeline migration.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Implementation: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discussion with Kuldip/Team.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3" name="Google Shape;823;p80"/>
          <p:cNvGraphicFramePr/>
          <p:nvPr/>
        </p:nvGraphicFramePr>
        <p:xfrm>
          <a:off x="269081" y="33992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824" name="Google Shape;824;p80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825" name="Google Shape;825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6" name="Google Shape;826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27" name="Google Shape;827;p80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828" name="Google Shape;828;p80"/>
          <p:cNvGraphicFramePr/>
          <p:nvPr/>
        </p:nvGraphicFramePr>
        <p:xfrm>
          <a:off x="4212587" y="26787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3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3507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 Genie Implementation: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Genie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Hold discussions to understand scope of this milestone.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Determine AI data readiness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 Agent and UC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(BA PROD):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orking with Dipak for column level lineage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- Phase 2: Continue migration discussions and UC migration support.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1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16,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835" name="Google Shape;835;p81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6" name="Google Shape;836;p81"/>
          <p:cNvGraphicFramePr/>
          <p:nvPr/>
        </p:nvGraphicFramePr>
        <p:xfrm>
          <a:off x="42125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the installation of Lakebridge Analyzer and Transpiler with Rajesh and Dinesh.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Completed the installation of Lakebridge Switch to convert Synapse SQL to DB SQL. This allows conversion using LLM that can prefix the catalog names to the converted DB SQL.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Attempted to convert Synapse SQL to DB SQL using Lakebridge Transpiler.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7" name="Google Shape;837;p81"/>
          <p:cNvGraphicFramePr/>
          <p:nvPr/>
        </p:nvGraphicFramePr>
        <p:xfrm>
          <a:off x="269069" y="30626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N/A.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838" name="Google Shape;838;p81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839" name="Google Shape;839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0" name="Google Shape;840;p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41" name="Google Shape;841;p81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842" name="Google Shape;842;p81"/>
          <p:cNvGraphicFramePr/>
          <p:nvPr/>
        </p:nvGraphicFramePr>
        <p:xfrm>
          <a:off x="4212569" y="30626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Synapse SQL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Attempt more SQL conversions using Lakebridge Transpiler.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Lakebridge Switch to convert Synapse SQL to DB SQL.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Extract Synapse SQL from M code.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2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March 9,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849" name="Google Shape;849;p82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AI/BI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Synapse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0" name="Google Shape;850;p82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1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TKO: March 3-5.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AI/BI: Began creating guidelines.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Provided UC Metadata &amp; Lineage Checklist to Ansu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Assisted Rajesh and Dinesh with Lakebridge installation.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Helped Carolyn update column descriptions to views.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AI/BI: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creating guidelines.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orking with Dipak for column level lineage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planning for DSBUS workspaces.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 UC Permission Model Framework.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Lakebridge installation.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Convert initial list of PowerBI reports using Lakebridge.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1" name="Google Shape;851;p82"/>
          <p:cNvGraphicFramePr/>
          <p:nvPr/>
        </p:nvGraphicFramePr>
        <p:xfrm>
          <a:off x="259306" y="3417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2" name="Google Shape;852;p82"/>
          <p:cNvGraphicFramePr/>
          <p:nvPr/>
        </p:nvGraphicFramePr>
        <p:xfrm>
          <a:off x="259306" y="4334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853" name="Google Shape;853;p82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854" name="Google Shape;854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5" name="Google Shape;855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56" name="Google Shape;856;p82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83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9,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863" name="Google Shape;863;p83"/>
          <p:cNvGraphicFramePr/>
          <p:nvPr/>
        </p:nvGraphicFramePr>
        <p:xfrm>
          <a:off x="269069" y="893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 Genie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4" name="Google Shape;864;p83"/>
          <p:cNvGraphicFramePr/>
          <p:nvPr/>
        </p:nvGraphicFramePr>
        <p:xfrm>
          <a:off x="4212569" y="893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603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Provided UC Metadata &amp; Lineage Checklist to Ansu.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5" name="Google Shape;865;p83"/>
          <p:cNvGraphicFramePr/>
          <p:nvPr/>
        </p:nvGraphicFramePr>
        <p:xfrm>
          <a:off x="269081" y="36341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866" name="Google Shape;866;p83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867" name="Google Shape;867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8" name="Google Shape;868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69" name="Google Shape;869;p83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870" name="Google Shape;870;p83"/>
          <p:cNvGraphicFramePr/>
          <p:nvPr/>
        </p:nvGraphicFramePr>
        <p:xfrm>
          <a:off x="4212569" y="22445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0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3054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AI BI: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 guidelines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Hold discussions to understand scope of this milestone.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Determine AI data readiness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 Agent and UC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Continue migration discussions, sync calls and UC migration support.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Workspaces: Continue UC migration support. </a:t>
                      </a: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CLOSE?</a:t>
                      </a:r>
                      <a:endParaRPr b="1"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(BA PROD):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orking with Dipak for column level lineage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 Genie.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4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9,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877" name="Google Shape;877;p84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Synapse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8" name="Google Shape;878;p84"/>
          <p:cNvGraphicFramePr/>
          <p:nvPr/>
        </p:nvGraphicFramePr>
        <p:xfrm>
          <a:off x="4212569" y="1079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Assisted Rajesh and Dinesh with Lakebridge installation.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Helped Carolyn update column descriptions to views.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9" name="Google Shape;879;p84"/>
          <p:cNvGraphicFramePr/>
          <p:nvPr/>
        </p:nvGraphicFramePr>
        <p:xfrm>
          <a:off x="269069" y="26816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19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880" name="Google Shape;880;p84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881" name="Google Shape;881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2" name="Google Shape;882;p8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83" name="Google Shape;883;p84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884" name="Google Shape;884;p84"/>
          <p:cNvGraphicFramePr/>
          <p:nvPr/>
        </p:nvGraphicFramePr>
        <p:xfrm>
          <a:off x="4212569" y="2256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Lakebridge installation.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Convert initial list of PowerBI reports using Lakebridge.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5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March 2,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891" name="Google Shape;891;p85"/>
          <p:cNvGraphicFramePr/>
          <p:nvPr/>
        </p:nvGraphicFramePr>
        <p:xfrm>
          <a:off x="264194" y="681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Guidelines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Synapse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2" name="Google Shape;892;p85"/>
          <p:cNvGraphicFramePr/>
          <p:nvPr/>
        </p:nvGraphicFramePr>
        <p:xfrm>
          <a:off x="4212569" y="681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1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Reviewed UC Catalog Design Discussion for BU with KK/Raja/Nayan.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Connected with Sreelatha about UC migration metrics calculation.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on CECL Job Migration with Parth to debug pipeline issue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Discussed initial list of power BI reports that will be considered for migration.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Discussed how the power BI reports will be migrated and validated.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TKO: March 3-5.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Begin work on Metadata guidelines.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BI: Hold discussions to gain understanding of this milestone.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orking with Dipak for column level lineage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workspaces and review UC Permission Model Framework.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Work with Rajesh and team to get access to the initial list of power BI reports and initiate the migration.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3" name="Google Shape;893;p85"/>
          <p:cNvGraphicFramePr/>
          <p:nvPr/>
        </p:nvGraphicFramePr>
        <p:xfrm>
          <a:off x="264194" y="36948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4" name="Google Shape;894;p85"/>
          <p:cNvGraphicFramePr/>
          <p:nvPr/>
        </p:nvGraphicFramePr>
        <p:xfrm>
          <a:off x="264194" y="44237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TKO: 3/3-5.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895" name="Google Shape;895;p85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896" name="Google Shape;896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7" name="Google Shape;897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98" name="Google Shape;898;p85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86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2,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905" name="Google Shape;905;p86"/>
          <p:cNvGraphicFramePr/>
          <p:nvPr/>
        </p:nvGraphicFramePr>
        <p:xfrm>
          <a:off x="269069" y="893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 Guidelines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 Genie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 Pipeline Migration - Phase 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6" name="Google Shape;906;p86"/>
          <p:cNvGraphicFramePr/>
          <p:nvPr/>
        </p:nvGraphicFramePr>
        <p:xfrm>
          <a:off x="4212569" y="893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1971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Reviewed UC Catalog Design Discussion for BU with KK/Raja/Nayan.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Connected with Sreelatha about UC migration metrics calculation.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on CECL Job Migration with Parth to debug pipeline issue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7" name="Google Shape;907;p86"/>
          <p:cNvGraphicFramePr/>
          <p:nvPr/>
        </p:nvGraphicFramePr>
        <p:xfrm>
          <a:off x="269081" y="37757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908" name="Google Shape;908;p86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909" name="Google Shape;909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0" name="Google Shape;910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11" name="Google Shape;911;p86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912" name="Google Shape;912;p86"/>
          <p:cNvGraphicFramePr/>
          <p:nvPr/>
        </p:nvGraphicFramePr>
        <p:xfrm>
          <a:off x="4212569" y="23866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0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3054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Metadata/AI BI: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Provide guidelines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Hold discussions to understand scope of this milestone.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Determine AI data readiness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 Agent and UC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 Genie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Continue migration discussions, sync calls and UC migration support.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Workspaces: Continue UC migration support. </a:t>
                      </a: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CLOSE?</a:t>
                      </a:r>
                      <a:endParaRPr b="1"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(BA PROD):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orking with Dipak for column level lineage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87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March 2,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919" name="Google Shape;919;p87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Synapse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0" name="Google Shape;920;p87"/>
          <p:cNvGraphicFramePr/>
          <p:nvPr/>
        </p:nvGraphicFramePr>
        <p:xfrm>
          <a:off x="4212569" y="1079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discussions around the initial list of power BI reports that will be considered for migration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Discussed on the approach on how the power BI reports will be migrated and validated.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1" name="Google Shape;921;p87"/>
          <p:cNvGraphicFramePr/>
          <p:nvPr/>
        </p:nvGraphicFramePr>
        <p:xfrm>
          <a:off x="269069" y="2899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922" name="Google Shape;922;p87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923" name="Google Shape;923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4" name="Google Shape;924;p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5" name="Google Shape;925;p87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926" name="Google Shape;926;p87"/>
          <p:cNvGraphicFramePr/>
          <p:nvPr/>
        </p:nvGraphicFramePr>
        <p:xfrm>
          <a:off x="4212569" y="25313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 with Rajesh and team in getting access to the initial list of power BI reports and initiate the migration.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8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February 20,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933" name="Google Shape;933;p88"/>
          <p:cNvGraphicFramePr/>
          <p:nvPr/>
        </p:nvGraphicFramePr>
        <p:xfrm>
          <a:off x="269069" y="8252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Synapse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4" name="Google Shape;934;p88"/>
          <p:cNvGraphicFramePr/>
          <p:nvPr/>
        </p:nvGraphicFramePr>
        <p:xfrm>
          <a:off x="4212569" y="825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1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President’s Day (2/16).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with Dipak for column level lineage.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Connected with Sreelatha about UC migration metrics calculation.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Held a working session to review prerequisites for running Lakebridge Analyzer.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Discussed PowerBI migration accelerator and converting the native queries used in PowerBI dashboards.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Next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BI: Hold discussions to gain understanding of this milestone.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with Dipak for column level lineage.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workspaces.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Evaluate complexity to convert SynapseSQL to DBSQL; come up with approach to convert native queries in PowerBI dashboards.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5" name="Google Shape;935;p88"/>
          <p:cNvGraphicFramePr/>
          <p:nvPr/>
        </p:nvGraphicFramePr>
        <p:xfrm>
          <a:off x="269069" y="36561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Blocker: Delayed onboarding for Satish (he needs a laptop!).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6" name="Google Shape;936;p88"/>
          <p:cNvGraphicFramePr/>
          <p:nvPr/>
        </p:nvGraphicFramePr>
        <p:xfrm>
          <a:off x="264181" y="45570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937" name="Google Shape;937;p88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938" name="Google Shape;938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" name="Google Shape;939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40" name="Google Shape;940;p88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89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February 20,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947" name="Google Shape;947;p89"/>
          <p:cNvGraphicFramePr/>
          <p:nvPr/>
        </p:nvGraphicFramePr>
        <p:xfrm>
          <a:off x="269069" y="893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8" name="Google Shape;948;p89"/>
          <p:cNvGraphicFramePr/>
          <p:nvPr/>
        </p:nvGraphicFramePr>
        <p:xfrm>
          <a:off x="4212569" y="893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1971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with Dipak for column level lineage.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Connected with Sreelatha about UC migration metrics calculation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9" name="Google Shape;949;p89"/>
          <p:cNvGraphicFramePr/>
          <p:nvPr/>
        </p:nvGraphicFramePr>
        <p:xfrm>
          <a:off x="269056" y="3328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950" name="Google Shape;950;p89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951" name="Google Shape;95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2" name="Google Shape;952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53" name="Google Shape;953;p89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954" name="Google Shape;954;p89"/>
          <p:cNvGraphicFramePr/>
          <p:nvPr/>
        </p:nvGraphicFramePr>
        <p:xfrm>
          <a:off x="4212569" y="23866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0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3054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discussions on phase 2 Pipeline Migration.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sync calls and UC migration plan implementation,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migration support.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(BA PROD):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orking with Dipak for column level lineage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 UC Permission Model Framework.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BI: Hold discussions to understand scope of this milestone.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90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February 20,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961" name="Google Shape;961;p90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Synapse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2" name="Google Shape;962;p90"/>
          <p:cNvGraphicFramePr/>
          <p:nvPr/>
        </p:nvGraphicFramePr>
        <p:xfrm>
          <a:off x="4212569" y="1079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Held a working session to review prerequisites for running Lakebridge Analyzer.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Had discussions around Power BI migration accelerator and converting the native queries used in PowerBI dashboards.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3" name="Google Shape;963;p90"/>
          <p:cNvGraphicFramePr/>
          <p:nvPr/>
        </p:nvGraphicFramePr>
        <p:xfrm>
          <a:off x="184319" y="29588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Blocker: Delayed onboarding for Satish (he needs a laptop!).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964" name="Google Shape;964;p90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965" name="Google Shape;965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6" name="Google Shape;966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67" name="Google Shape;967;p90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968" name="Google Shape;968;p90"/>
          <p:cNvGraphicFramePr/>
          <p:nvPr/>
        </p:nvGraphicFramePr>
        <p:xfrm>
          <a:off x="4212569" y="25313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Next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 with NFCU team to run Lakebridge Analyzer to evaluate the complexity level of converting SynapseSQL to DBSQL.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Approach for effectively converting the native queries in PowerBI dashboards.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91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February 17,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975" name="Google Shape;975;p91"/>
          <p:cNvGraphicFramePr/>
          <p:nvPr/>
        </p:nvGraphicFramePr>
        <p:xfrm>
          <a:off x="269069" y="8252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Synapse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6" name="Google Shape;976;p91"/>
          <p:cNvGraphicFramePr/>
          <p:nvPr/>
        </p:nvGraphicFramePr>
        <p:xfrm>
          <a:off x="4212569" y="825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1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Last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Working with Dipak for column level lineage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Connected with Sreelatha about UC migration metrics calculation.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Established a shared understanding of Lakehouse SQL project scope and deliverables.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Advised on leveraging Lakebridge Analyzer.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President’s Day (2/16).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BI: Hold discussions to gain understanding of this milestone.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working with Dipak for column level lineage.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workspaces.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Review prerequisites for running Lakebridge Analyzer; evaluate the feasibility of converting Power BI DirectQuery reports without exporting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7" name="Google Shape;977;p91"/>
          <p:cNvGraphicFramePr/>
          <p:nvPr/>
        </p:nvGraphicFramePr>
        <p:xfrm>
          <a:off x="269069" y="36561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8" name="Google Shape;978;p91"/>
          <p:cNvGraphicFramePr/>
          <p:nvPr/>
        </p:nvGraphicFramePr>
        <p:xfrm>
          <a:off x="264181" y="4437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979" name="Google Shape;979;p91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980" name="Google Shape;98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1" name="Google Shape;981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82" name="Google Shape;982;p91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92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UC Migration &amp; Platform Support - Kashif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February 17, 2026</a:t>
            </a:r>
            <a:endParaRPr sz="2500">
              <a:solidFill>
                <a:srgbClr val="0B5394"/>
              </a:solidFill>
            </a:endParaRPr>
          </a:p>
        </p:txBody>
      </p:sp>
      <p:graphicFrame>
        <p:nvGraphicFramePr>
          <p:cNvPr id="989" name="Google Shape;989;p92"/>
          <p:cNvGraphicFramePr/>
          <p:nvPr/>
        </p:nvGraphicFramePr>
        <p:xfrm>
          <a:off x="269069" y="893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0" name="Google Shape;990;p92"/>
          <p:cNvGraphicFramePr/>
          <p:nvPr/>
        </p:nvGraphicFramePr>
        <p:xfrm>
          <a:off x="4212569" y="893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3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1971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Worked with Dipak for column level lineage.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Connected with Sreelatha about UC migration metrics calculation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1" name="Google Shape;991;p92"/>
          <p:cNvGraphicFramePr/>
          <p:nvPr/>
        </p:nvGraphicFramePr>
        <p:xfrm>
          <a:off x="269056" y="3328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992" name="Google Shape;992;p92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993" name="Google Shape;99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4" name="Google Shape;99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95" name="Google Shape;995;p92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996" name="Google Shape;996;p92"/>
          <p:cNvGraphicFramePr/>
          <p:nvPr/>
        </p:nvGraphicFramePr>
        <p:xfrm>
          <a:off x="4212569" y="23866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0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3054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discussions on phase 2 Pipeline Migration.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sync calls and UC migration plan implementation, as needed.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migration support.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 (BA PROD):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Managed Storage for BA PROD Cleanup.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Catalog Design Discussion for BU with Raja/Nayan.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w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orking with Dipak for column level lineage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 UC Permission Model Framework.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BI: Hold discussions to understand scope of this milestone.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3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Lakehouse SQL Workstream - Satish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B5394"/>
                </a:solidFill>
              </a:rPr>
              <a:t>February 17, 2026</a:t>
            </a:r>
            <a:endParaRPr sz="2200">
              <a:solidFill>
                <a:srgbClr val="0B5394"/>
              </a:solidFill>
            </a:endParaRPr>
          </a:p>
        </p:txBody>
      </p:sp>
      <p:graphicFrame>
        <p:nvGraphicFramePr>
          <p:cNvPr id="1003" name="Google Shape;1003;p93"/>
          <p:cNvGraphicFramePr/>
          <p:nvPr/>
        </p:nvGraphicFramePr>
        <p:xfrm>
          <a:off x="269069" y="1079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Synapse Migration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4" name="Google Shape;1004;p93"/>
          <p:cNvGraphicFramePr/>
          <p:nvPr/>
        </p:nvGraphicFramePr>
        <p:xfrm>
          <a:off x="4212569" y="1079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3712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Established a shared understanding of Lakehouse SQL project scope and deliverables.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Advised on leveraging Lakebridge Analyzer to assess the complexity of Synapse SQL objects and determine the automation level for converting Synapse SQL to Databricks SQL (DBSQL).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5" name="Google Shape;1005;p93"/>
          <p:cNvGraphicFramePr/>
          <p:nvPr/>
        </p:nvGraphicFramePr>
        <p:xfrm>
          <a:off x="184319" y="29588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1006" name="Google Shape;1006;p93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1007" name="Google Shape;1007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09" name="Google Shape;1009;p93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1010" name="Google Shape;1010;p93"/>
          <p:cNvGraphicFramePr/>
          <p:nvPr/>
        </p:nvGraphicFramePr>
        <p:xfrm>
          <a:off x="4212569" y="2958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13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Next Week’s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665575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Hold a follow-up working session to review prerequisites for running Lakebridge Analyzer.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Evaluate the feasibility of converting Power BI DirectQuery reports without exporting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94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February 9,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1017" name="Google Shape;1017;p94"/>
          <p:cNvGraphicFramePr/>
          <p:nvPr/>
        </p:nvGraphicFramePr>
        <p:xfrm>
          <a:off x="269069" y="8252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8" name="Google Shape;1018;p94"/>
          <p:cNvGraphicFramePr/>
          <p:nvPr/>
        </p:nvGraphicFramePr>
        <p:xfrm>
          <a:off x="4212569" y="825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1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b="1"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 Started discussions on phase 2 Pipeline Migration</a:t>
                      </a: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Gayathri confirmed that the lineage is showing up for model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Storage for BAPROD Cleanup - </a:t>
                      </a: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b="1"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UC Catalog Design Discussion for BU with Raja/Nayan - </a:t>
                      </a: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Reviewing UC Permission Model Framework.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Have discovery sessions.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Next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Continue sync calls and UC migration plan implementation, as needed. PROD validation in progress for Phase 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MLOps: Continue UC migration support. Check on feature architecture and engineering team dependency to read data. 1Q26.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Focus on BA PROD; hold governance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&amp; BA PROD workpaces. NFCU to clean up BA PROD workspace first; do UC migration in 2Q26.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Have discovery sessions.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9" name="Google Shape;1019;p94"/>
          <p:cNvGraphicFramePr/>
          <p:nvPr/>
        </p:nvGraphicFramePr>
        <p:xfrm>
          <a:off x="269069" y="3439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0" name="Google Shape;1020;p94"/>
          <p:cNvGraphicFramePr/>
          <p:nvPr/>
        </p:nvGraphicFramePr>
        <p:xfrm>
          <a:off x="264194" y="4236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President’s Day (2/16),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1021" name="Google Shape;1021;p94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1022" name="Google Shape;1022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3" name="Google Shape;1023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24" name="Google Shape;1024;p94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95"/>
          <p:cNvSpPr txBox="1"/>
          <p:nvPr>
            <p:ph type="title"/>
          </p:nvPr>
        </p:nvSpPr>
        <p:spPr>
          <a:xfrm>
            <a:off x="264200" y="172525"/>
            <a:ext cx="7161900" cy="53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Executive Summary – February 2,</a:t>
            </a:r>
            <a:r>
              <a:rPr lang="en" sz="2500"/>
              <a:t> 202</a:t>
            </a:r>
            <a:r>
              <a:rPr lang="en" sz="2500"/>
              <a:t>6</a:t>
            </a:r>
            <a:endParaRPr sz="2500"/>
          </a:p>
        </p:txBody>
      </p:sp>
      <p:graphicFrame>
        <p:nvGraphicFramePr>
          <p:cNvPr id="1031" name="Google Shape;1031;p95"/>
          <p:cNvGraphicFramePr/>
          <p:nvPr/>
        </p:nvGraphicFramePr>
        <p:xfrm>
          <a:off x="269069" y="8252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2844150"/>
                <a:gridCol w="998875"/>
              </a:tblGrid>
              <a:tr h="1157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Milestones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1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 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D6F7E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highlight>
                          <a:srgbClr val="CBCCCC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1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 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79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BI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Pipeline Opportunities/Best Practices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Close Project on 1/29/27</a:t>
                      </a:r>
                      <a:endParaRPr b="1"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Started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2" name="Google Shape;1032;p95"/>
          <p:cNvGraphicFramePr/>
          <p:nvPr/>
        </p:nvGraphicFramePr>
        <p:xfrm>
          <a:off x="4212569" y="825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48108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Accomplishments / Activities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41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This Week’s Activities:</a:t>
                      </a:r>
                      <a:endParaRPr b="1"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 Started discussions on phase 2 Pipeline Migration</a:t>
                      </a: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endParaRPr b="1"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 Workspaces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Gayathri confirmed that the lineage is showing up for model training.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Storage for BAPROD Cleanup - </a:t>
                      </a: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b="1"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UC Catalog Design Discussion for BU with Raja/Nayan - </a:t>
                      </a: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Progress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Continued UC planning for DSBUS workspaces.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5143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Reviewing UC Permission Model Framework.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Have discovery sessions.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</a:t>
                      </a: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Next Week’s Activities: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CECL: Continue sync calls and UC migration plan implementation, as needed. PROD validation in progress for Phase 1.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MLOps: Continue UC migration support. Check on feature architecture and engineering team dependency to read data. 1Q26.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Platform: Focus on BA PROD; hold governance discussions.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EDAS UC Migration: Continue UC planning for DSBUS &amp; BA PROD workpaces. NFCU to clean up BA PROD workspace first; do UC migration in 2Q26.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LAKEHOUSE SQL: Have discovery sessions.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METRICS: Determine what metrics to track and benchmark them to show progress. 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3" name="Google Shape;1033;p95"/>
          <p:cNvGraphicFramePr/>
          <p:nvPr/>
        </p:nvGraphicFramePr>
        <p:xfrm>
          <a:off x="269069" y="3439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43025"/>
              </a:tblGrid>
              <a:tr h="24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u="none" cap="none" strike="noStrik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Blockers / Issues / Risks</a:t>
                      </a:r>
                      <a:endParaRPr i="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RISK: If there are issues with the CECL Dev Workspace, Kashif will need access to troubleshoot them.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45725" marB="45725" marR="91475" marL="91475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4" name="Google Shape;1034;p95"/>
          <p:cNvGraphicFramePr/>
          <p:nvPr/>
        </p:nvGraphicFramePr>
        <p:xfrm>
          <a:off x="264194" y="4236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{095C54B9-6944-4053-99CF-02348D390EB3}</a:tableStyleId>
              </a:tblPr>
              <a:tblGrid>
                <a:gridCol w="3852800"/>
              </a:tblGrid>
              <a:tr h="19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Upcoming Out of Office</a:t>
                      </a:r>
                      <a:endParaRPr i="0"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7250">
                <a:tc>
                  <a:txBody>
                    <a:bodyPr/>
                    <a:lstStyle/>
                    <a:p>
                      <a:pPr indent="-171450" lvl="0" marL="2286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DM Sans"/>
                        <a:buChar char="●"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Holiday: President’s Day (2/16), Memorial Day (5/25).</a:t>
                      </a:r>
                      <a:endParaRPr sz="900">
                        <a:solidFill>
                          <a:srgbClr val="00000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7E6E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CF2"/>
                    </a:solidFill>
                  </a:tcPr>
                </a:tc>
              </a:tr>
            </a:tbl>
          </a:graphicData>
        </a:graphic>
      </p:graphicFrame>
      <p:grpSp>
        <p:nvGrpSpPr>
          <p:cNvPr id="1035" name="Google Shape;1035;p95"/>
          <p:cNvGrpSpPr/>
          <p:nvPr/>
        </p:nvGrpSpPr>
        <p:grpSpPr>
          <a:xfrm>
            <a:off x="7649620" y="172514"/>
            <a:ext cx="1373762" cy="382068"/>
            <a:chOff x="7573420" y="96314"/>
            <a:chExt cx="1373762" cy="382068"/>
          </a:xfrm>
        </p:grpSpPr>
        <p:pic>
          <p:nvPicPr>
            <p:cNvPr id="1036" name="Google Shape;1036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73420" y="119651"/>
              <a:ext cx="571375" cy="3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7" name="Google Shape;103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19433" y="96314"/>
              <a:ext cx="727749" cy="3820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38" name="Google Shape;1038;p95"/>
            <p:cNvCxnSpPr/>
            <p:nvPr/>
          </p:nvCxnSpPr>
          <p:spPr>
            <a:xfrm>
              <a:off x="8219475" y="120688"/>
              <a:ext cx="0" cy="33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6"/>
          <p:cNvSpPr txBox="1"/>
          <p:nvPr>
            <p:ph type="ctrTitle"/>
          </p:nvPr>
        </p:nvSpPr>
        <p:spPr>
          <a:xfrm>
            <a:off x="571493" y="890231"/>
            <a:ext cx="4000500" cy="1790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